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5940425" cy="62166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9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A2F886-2B7E-4DDB-BA80-CE31B64BE2CB}" v="29" dt="2026-02-03T15:08:56.9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886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modSld">
      <pc:chgData name="Fatima Pillosu" userId="a6295d4dc9e22643" providerId="LiveId" clId="{87453732-75AC-4426-B5D3-B7C69C2D4F54}" dt="2026-02-03T15:11:13.491" v="293" actId="20577"/>
      <pc:docMkLst>
        <pc:docMk/>
      </pc:docMkLst>
      <pc:sldChg chg="addSp delSp modSp mod">
        <pc:chgData name="Fatima Pillosu" userId="a6295d4dc9e22643" providerId="LiveId" clId="{87453732-75AC-4426-B5D3-B7C69C2D4F54}" dt="2026-02-03T15:11:13.491" v="293" actId="20577"/>
        <pc:sldMkLst>
          <pc:docMk/>
          <pc:sldMk cId="3854079057" sldId="256"/>
        </pc:sldMkLst>
        <pc:spChg chg="add del">
          <ac:chgData name="Fatima Pillosu" userId="a6295d4dc9e22643" providerId="LiveId" clId="{87453732-75AC-4426-B5D3-B7C69C2D4F54}" dt="2026-02-03T15:01:07.547" v="184" actId="478"/>
          <ac:spMkLst>
            <pc:docMk/>
            <pc:sldMk cId="3854079057" sldId="256"/>
            <ac:spMk id="4" creationId="{F64365F6-232D-DFE1-F31F-83B1D7A09C33}"/>
          </ac:spMkLst>
        </pc:spChg>
        <pc:spChg chg="add del">
          <ac:chgData name="Fatima Pillosu" userId="a6295d4dc9e22643" providerId="LiveId" clId="{87453732-75AC-4426-B5D3-B7C69C2D4F54}" dt="2026-02-03T15:01:45.246" v="206" actId="478"/>
          <ac:spMkLst>
            <pc:docMk/>
            <pc:sldMk cId="3854079057" sldId="256"/>
            <ac:spMk id="6" creationId="{4653BF83-9753-1500-BAAD-5A982DF75884}"/>
          </ac:spMkLst>
        </pc:spChg>
        <pc:spChg chg="add del">
          <ac:chgData name="Fatima Pillosu" userId="a6295d4dc9e22643" providerId="LiveId" clId="{87453732-75AC-4426-B5D3-B7C69C2D4F54}" dt="2026-02-03T15:02:24.973" v="212" actId="478"/>
          <ac:spMkLst>
            <pc:docMk/>
            <pc:sldMk cId="3854079057" sldId="256"/>
            <ac:spMk id="8" creationId="{BBEDAB74-59B3-9DC8-8B57-7D9865388F3D}"/>
          </ac:spMkLst>
        </pc:spChg>
        <pc:spChg chg="add del">
          <ac:chgData name="Fatima Pillosu" userId="a6295d4dc9e22643" providerId="LiveId" clId="{87453732-75AC-4426-B5D3-B7C69C2D4F54}" dt="2026-02-03T15:08:47.044" v="282" actId="478"/>
          <ac:spMkLst>
            <pc:docMk/>
            <pc:sldMk cId="3854079057" sldId="256"/>
            <ac:spMk id="10" creationId="{DE5CDCC2-FCD7-20A1-9DDD-76316B52509B}"/>
          </ac:spMkLst>
        </pc:spChg>
        <pc:graphicFrameChg chg="add del mod modGraphic">
          <ac:chgData name="Fatima Pillosu" userId="a6295d4dc9e22643" providerId="LiveId" clId="{87453732-75AC-4426-B5D3-B7C69C2D4F54}" dt="2026-02-03T15:01:08.810" v="185" actId="21"/>
          <ac:graphicFrameMkLst>
            <pc:docMk/>
            <pc:sldMk cId="3854079057" sldId="256"/>
            <ac:graphicFrameMk id="2" creationId="{3120C8A9-9201-0B9F-3024-D7D4A14E8248}"/>
          </ac:graphicFrameMkLst>
        </pc:graphicFrameChg>
        <pc:graphicFrameChg chg="del">
          <ac:chgData name="Fatima Pillosu" userId="a6295d4dc9e22643" providerId="LiveId" clId="{87453732-75AC-4426-B5D3-B7C69C2D4F54}" dt="2026-02-03T14:32:49.947" v="0" actId="21"/>
          <ac:graphicFrameMkLst>
            <pc:docMk/>
            <pc:sldMk cId="3854079057" sldId="256"/>
            <ac:graphicFrameMk id="3" creationId="{3120C8A9-9201-0B9F-3024-D7D4A14E8248}"/>
          </ac:graphicFrameMkLst>
        </pc:graphicFrameChg>
        <pc:graphicFrameChg chg="add del mod modGraphic">
          <ac:chgData name="Fatima Pillosu" userId="a6295d4dc9e22643" providerId="LiveId" clId="{87453732-75AC-4426-B5D3-B7C69C2D4F54}" dt="2026-02-03T15:01:47.650" v="207" actId="21"/>
          <ac:graphicFrameMkLst>
            <pc:docMk/>
            <pc:sldMk cId="3854079057" sldId="256"/>
            <ac:graphicFrameMk id="5" creationId="{3120C8A9-9201-0B9F-3024-D7D4A14E8248}"/>
          </ac:graphicFrameMkLst>
        </pc:graphicFrameChg>
        <pc:graphicFrameChg chg="add del mod modGraphic">
          <ac:chgData name="Fatima Pillosu" userId="a6295d4dc9e22643" providerId="LiveId" clId="{87453732-75AC-4426-B5D3-B7C69C2D4F54}" dt="2026-02-03T15:02:26.389" v="213" actId="21"/>
          <ac:graphicFrameMkLst>
            <pc:docMk/>
            <pc:sldMk cId="3854079057" sldId="256"/>
            <ac:graphicFrameMk id="7" creationId="{3120C8A9-9201-0B9F-3024-D7D4A14E8248}"/>
          </ac:graphicFrameMkLst>
        </pc:graphicFrameChg>
        <pc:graphicFrameChg chg="add del mod modGraphic">
          <ac:chgData name="Fatima Pillosu" userId="a6295d4dc9e22643" providerId="LiveId" clId="{87453732-75AC-4426-B5D3-B7C69C2D4F54}" dt="2026-02-03T15:08:48.193" v="283" actId="21"/>
          <ac:graphicFrameMkLst>
            <pc:docMk/>
            <pc:sldMk cId="3854079057" sldId="256"/>
            <ac:graphicFrameMk id="9" creationId="{3120C8A9-9201-0B9F-3024-D7D4A14E8248}"/>
          </ac:graphicFrameMkLst>
        </pc:graphicFrameChg>
        <pc:graphicFrameChg chg="add mod modGraphic">
          <ac:chgData name="Fatima Pillosu" userId="a6295d4dc9e22643" providerId="LiveId" clId="{87453732-75AC-4426-B5D3-B7C69C2D4F54}" dt="2026-02-03T15:11:13.491" v="293" actId="20577"/>
          <ac:graphicFrameMkLst>
            <pc:docMk/>
            <pc:sldMk cId="3854079057" sldId="256"/>
            <ac:graphicFrameMk id="11" creationId="{3120C8A9-9201-0B9F-3024-D7D4A14E824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532" y="1017401"/>
            <a:ext cx="5049361" cy="2164315"/>
          </a:xfrm>
        </p:spPr>
        <p:txBody>
          <a:bodyPr anchor="b"/>
          <a:lstStyle>
            <a:lvl1pPr algn="ctr"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53" y="3265181"/>
            <a:ext cx="4455319" cy="1500918"/>
          </a:xfrm>
        </p:spPr>
        <p:txBody>
          <a:bodyPr/>
          <a:lstStyle>
            <a:lvl1pPr marL="0" indent="0" algn="ctr">
              <a:buNone/>
              <a:defRPr sz="1559"/>
            </a:lvl1pPr>
            <a:lvl2pPr marL="297043" indent="0" algn="ctr">
              <a:buNone/>
              <a:defRPr sz="1299"/>
            </a:lvl2pPr>
            <a:lvl3pPr marL="594086" indent="0" algn="ctr">
              <a:buNone/>
              <a:defRPr sz="1169"/>
            </a:lvl3pPr>
            <a:lvl4pPr marL="891129" indent="0" algn="ctr">
              <a:buNone/>
              <a:defRPr sz="1040"/>
            </a:lvl4pPr>
            <a:lvl5pPr marL="1188171" indent="0" algn="ctr">
              <a:buNone/>
              <a:defRPr sz="1040"/>
            </a:lvl5pPr>
            <a:lvl6pPr marL="1485214" indent="0" algn="ctr">
              <a:buNone/>
              <a:defRPr sz="1040"/>
            </a:lvl6pPr>
            <a:lvl7pPr marL="1782257" indent="0" algn="ctr">
              <a:buNone/>
              <a:defRPr sz="1040"/>
            </a:lvl7pPr>
            <a:lvl8pPr marL="2079300" indent="0" algn="ctr">
              <a:buNone/>
              <a:defRPr sz="1040"/>
            </a:lvl8pPr>
            <a:lvl9pPr marL="2376343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BDA1B-EAE1-47C6-BAFE-323F2142C797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CA8C-F004-4D87-9A9E-20935E21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2423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BDA1B-EAE1-47C6-BAFE-323F2142C797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CA8C-F004-4D87-9A9E-20935E21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5801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10" y="1549847"/>
            <a:ext cx="5123617" cy="2585953"/>
          </a:xfrm>
        </p:spPr>
        <p:txBody>
          <a:bodyPr anchor="b"/>
          <a:lstStyle>
            <a:lvl1pPr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310" y="4160264"/>
            <a:ext cx="5123617" cy="1359892"/>
          </a:xfrm>
        </p:spPr>
        <p:txBody>
          <a:bodyPr/>
          <a:lstStyle>
            <a:lvl1pPr marL="0" indent="0">
              <a:buNone/>
              <a:defRPr sz="1559">
                <a:solidFill>
                  <a:schemeClr val="tx1">
                    <a:tint val="82000"/>
                  </a:schemeClr>
                </a:solidFill>
              </a:defRPr>
            </a:lvl1pPr>
            <a:lvl2pPr marL="297043" indent="0">
              <a:buNone/>
              <a:defRPr sz="1299">
                <a:solidFill>
                  <a:schemeClr val="tx1">
                    <a:tint val="82000"/>
                  </a:schemeClr>
                </a:solidFill>
              </a:defRPr>
            </a:lvl2pPr>
            <a:lvl3pPr marL="594086" indent="0">
              <a:buNone/>
              <a:defRPr sz="1169">
                <a:solidFill>
                  <a:schemeClr val="tx1">
                    <a:tint val="82000"/>
                  </a:schemeClr>
                </a:solidFill>
              </a:defRPr>
            </a:lvl3pPr>
            <a:lvl4pPr marL="891129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4pPr>
            <a:lvl5pPr marL="1188171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5pPr>
            <a:lvl6pPr marL="1485214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6pPr>
            <a:lvl7pPr marL="1782257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7pPr>
            <a:lvl8pPr marL="207930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8pPr>
            <a:lvl9pPr marL="2376343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BDA1B-EAE1-47C6-BAFE-323F2142C797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CA8C-F004-4D87-9A9E-20935E21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561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404" y="1654895"/>
            <a:ext cx="2524681" cy="39444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7340" y="1654895"/>
            <a:ext cx="2524681" cy="39444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BDA1B-EAE1-47C6-BAFE-323F2142C797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CA8C-F004-4D87-9A9E-20935E21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6075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330981"/>
            <a:ext cx="5123617" cy="12015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179" y="1523943"/>
            <a:ext cx="2513078" cy="746861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179" y="2270804"/>
            <a:ext cx="2513078" cy="3340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7341" y="1523943"/>
            <a:ext cx="2525454" cy="746861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7341" y="2270804"/>
            <a:ext cx="2525454" cy="3340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BDA1B-EAE1-47C6-BAFE-323F2142C797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CA8C-F004-4D87-9A9E-20935E21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3192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BDA1B-EAE1-47C6-BAFE-323F2142C797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CA8C-F004-4D87-9A9E-20935E21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7726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BDA1B-EAE1-47C6-BAFE-323F2142C797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CA8C-F004-4D87-9A9E-20935E21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9915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14443"/>
            <a:ext cx="1915942" cy="1450552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5454" y="895084"/>
            <a:ext cx="3007340" cy="4417851"/>
          </a:xfrm>
        </p:spPr>
        <p:txBody>
          <a:bodyPr/>
          <a:lstStyle>
            <a:lvl1pPr>
              <a:defRPr sz="2079"/>
            </a:lvl1pPr>
            <a:lvl2pPr>
              <a:defRPr sz="1819"/>
            </a:lvl2pPr>
            <a:lvl3pPr>
              <a:defRPr sz="1559"/>
            </a:lvl3pPr>
            <a:lvl4pPr>
              <a:defRPr sz="1299"/>
            </a:lvl4pPr>
            <a:lvl5pPr>
              <a:defRPr sz="1299"/>
            </a:lvl5pPr>
            <a:lvl6pPr>
              <a:defRPr sz="1299"/>
            </a:lvl6pPr>
            <a:lvl7pPr>
              <a:defRPr sz="1299"/>
            </a:lvl7pPr>
            <a:lvl8pPr>
              <a:defRPr sz="1299"/>
            </a:lvl8pPr>
            <a:lvl9pPr>
              <a:defRPr sz="12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64995"/>
            <a:ext cx="1915942" cy="3455134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BDA1B-EAE1-47C6-BAFE-323F2142C797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CA8C-F004-4D87-9A9E-20935E21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352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14443"/>
            <a:ext cx="1915942" cy="1450552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5454" y="895084"/>
            <a:ext cx="3007340" cy="4417851"/>
          </a:xfrm>
        </p:spPr>
        <p:txBody>
          <a:bodyPr anchor="t"/>
          <a:lstStyle>
            <a:lvl1pPr marL="0" indent="0">
              <a:buNone/>
              <a:defRPr sz="2079"/>
            </a:lvl1pPr>
            <a:lvl2pPr marL="297043" indent="0">
              <a:buNone/>
              <a:defRPr sz="1819"/>
            </a:lvl2pPr>
            <a:lvl3pPr marL="594086" indent="0">
              <a:buNone/>
              <a:defRPr sz="1559"/>
            </a:lvl3pPr>
            <a:lvl4pPr marL="891129" indent="0">
              <a:buNone/>
              <a:defRPr sz="1299"/>
            </a:lvl4pPr>
            <a:lvl5pPr marL="1188171" indent="0">
              <a:buNone/>
              <a:defRPr sz="1299"/>
            </a:lvl5pPr>
            <a:lvl6pPr marL="1485214" indent="0">
              <a:buNone/>
              <a:defRPr sz="1299"/>
            </a:lvl6pPr>
            <a:lvl7pPr marL="1782257" indent="0">
              <a:buNone/>
              <a:defRPr sz="1299"/>
            </a:lvl7pPr>
            <a:lvl8pPr marL="2079300" indent="0">
              <a:buNone/>
              <a:defRPr sz="1299"/>
            </a:lvl8pPr>
            <a:lvl9pPr marL="2376343" indent="0">
              <a:buNone/>
              <a:defRPr sz="12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64995"/>
            <a:ext cx="1915942" cy="3455134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BDA1B-EAE1-47C6-BAFE-323F2142C797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CA8C-F004-4D87-9A9E-20935E21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012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BDA1B-EAE1-47C6-BAFE-323F2142C797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CA8C-F004-4D87-9A9E-20935E21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452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1117" y="330979"/>
            <a:ext cx="1280904" cy="52683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405" y="330979"/>
            <a:ext cx="3768457" cy="52683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BDA1B-EAE1-47C6-BAFE-323F2142C797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CA8C-F004-4D87-9A9E-20935E21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691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404" y="330981"/>
            <a:ext cx="5123617" cy="12015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404" y="1654895"/>
            <a:ext cx="5123617" cy="3944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404" y="5761915"/>
            <a:ext cx="1336596" cy="330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7BDA1B-EAE1-47C6-BAFE-323F2142C797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7766" y="5761915"/>
            <a:ext cx="2004893" cy="330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5425" y="5761915"/>
            <a:ext cx="1336596" cy="330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A9CA8C-F004-4D87-9A9E-20935E2197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0470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594086" rtl="0" eaLnBrk="1" latinLnBrk="0" hangingPunct="1">
        <a:lnSpc>
          <a:spcPct val="90000"/>
        </a:lnSpc>
        <a:spcBef>
          <a:spcPct val="0"/>
        </a:spcBef>
        <a:buNone/>
        <a:defRPr sz="2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21" indent="-148521" algn="l" defTabSz="594086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19" kern="1200">
          <a:solidFill>
            <a:schemeClr val="tx1"/>
          </a:solidFill>
          <a:latin typeface="+mn-lt"/>
          <a:ea typeface="+mn-ea"/>
          <a:cs typeface="+mn-cs"/>
        </a:defRPr>
      </a:lvl1pPr>
      <a:lvl2pPr marL="4455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42607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299" kern="1200">
          <a:solidFill>
            <a:schemeClr val="tx1"/>
          </a:solidFill>
          <a:latin typeface="+mn-lt"/>
          <a:ea typeface="+mn-ea"/>
          <a:cs typeface="+mn-cs"/>
        </a:defRPr>
      </a:lvl3pPr>
      <a:lvl4pPr marL="1039650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336693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633736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930778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227821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5248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1pPr>
      <a:lvl2pPr marL="2970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94086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3pPr>
      <a:lvl4pPr marL="891129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188171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485214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782257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07930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3763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3120C8A9-9201-0B9F-3024-D7D4A14E82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9878930"/>
                  </p:ext>
                </p:extLst>
              </p:nvPr>
            </p:nvGraphicFramePr>
            <p:xfrm>
              <a:off x="0" y="0"/>
              <a:ext cx="5948045" cy="6216269"/>
            </p:xfrm>
            <a:graphic>
              <a:graphicData uri="http://schemas.openxmlformats.org/drawingml/2006/table">
                <a:tbl>
                  <a:tblPr firstRow="1" bandRow="1">
                    <a:tableStyleId>{5202B0CA-FC54-4496-8BCA-5EF66A818D29}</a:tableStyleId>
                  </a:tblPr>
                  <a:tblGrid>
                    <a:gridCol w="289560">
                      <a:extLst>
                        <a:ext uri="{9D8B030D-6E8A-4147-A177-3AD203B41FA5}">
                          <a16:colId xmlns:a16="http://schemas.microsoft.com/office/drawing/2014/main" val="3922790956"/>
                        </a:ext>
                      </a:extLst>
                    </a:gridCol>
                    <a:gridCol w="678180">
                      <a:extLst>
                        <a:ext uri="{9D8B030D-6E8A-4147-A177-3AD203B41FA5}">
                          <a16:colId xmlns:a16="http://schemas.microsoft.com/office/drawing/2014/main" val="2278908256"/>
                        </a:ext>
                      </a:extLst>
                    </a:gridCol>
                    <a:gridCol w="754380">
                      <a:extLst>
                        <a:ext uri="{9D8B030D-6E8A-4147-A177-3AD203B41FA5}">
                          <a16:colId xmlns:a16="http://schemas.microsoft.com/office/drawing/2014/main" val="1439051023"/>
                        </a:ext>
                      </a:extLst>
                    </a:gridCol>
                    <a:gridCol w="632460">
                      <a:extLst>
                        <a:ext uri="{9D8B030D-6E8A-4147-A177-3AD203B41FA5}">
                          <a16:colId xmlns:a16="http://schemas.microsoft.com/office/drawing/2014/main" val="2239184006"/>
                        </a:ext>
                      </a:extLst>
                    </a:gridCol>
                    <a:gridCol w="521970">
                      <a:extLst>
                        <a:ext uri="{9D8B030D-6E8A-4147-A177-3AD203B41FA5}">
                          <a16:colId xmlns:a16="http://schemas.microsoft.com/office/drawing/2014/main" val="4174915147"/>
                        </a:ext>
                      </a:extLst>
                    </a:gridCol>
                    <a:gridCol w="561975">
                      <a:extLst>
                        <a:ext uri="{9D8B030D-6E8A-4147-A177-3AD203B41FA5}">
                          <a16:colId xmlns:a16="http://schemas.microsoft.com/office/drawing/2014/main" val="3945833988"/>
                        </a:ext>
                      </a:extLst>
                    </a:gridCol>
                    <a:gridCol w="784783">
                      <a:extLst>
                        <a:ext uri="{9D8B030D-6E8A-4147-A177-3AD203B41FA5}">
                          <a16:colId xmlns:a16="http://schemas.microsoft.com/office/drawing/2014/main" val="4283206873"/>
                        </a:ext>
                      </a:extLst>
                    </a:gridCol>
                    <a:gridCol w="874472">
                      <a:extLst>
                        <a:ext uri="{9D8B030D-6E8A-4147-A177-3AD203B41FA5}">
                          <a16:colId xmlns:a16="http://schemas.microsoft.com/office/drawing/2014/main" val="3368464733"/>
                        </a:ext>
                      </a:extLst>
                    </a:gridCol>
                    <a:gridCol w="850265">
                      <a:extLst>
                        <a:ext uri="{9D8B030D-6E8A-4147-A177-3AD203B41FA5}">
                          <a16:colId xmlns:a16="http://schemas.microsoft.com/office/drawing/2014/main" val="406658409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No. Col</a:t>
                          </a:r>
                          <a:endParaRPr lang="en-GB" sz="700" dirty="0"/>
                        </a:p>
                      </a:txBody>
                      <a:tcPr marL="45720" marR="45720" anchor="ctr"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1</a:t>
                          </a:r>
                          <a:endParaRPr lang="en-GB" sz="700" dirty="0"/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2</a:t>
                          </a:r>
                          <a:endParaRPr lang="en-GB" sz="700" dirty="0"/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3</a:t>
                          </a:r>
                          <a:endParaRPr lang="en-GB" sz="700" dirty="0"/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4</a:t>
                          </a:r>
                          <a:endParaRPr lang="en-GB" sz="700" dirty="0"/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5</a:t>
                          </a:r>
                          <a:endParaRPr lang="en-GB" sz="700" dirty="0"/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6</a:t>
                          </a:r>
                          <a:endParaRPr lang="en-GB" sz="700" dirty="0"/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7</a:t>
                          </a:r>
                          <a:endParaRPr lang="en-GB" sz="700" dirty="0"/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8</a:t>
                          </a:r>
                          <a:endParaRPr lang="en-GB" sz="700" dirty="0"/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33682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No. Row</a:t>
                          </a:r>
                          <a:endParaRPr lang="en-GB" sz="7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45720" marR="45720" anchor="ctr"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Type of climatology</a:t>
                          </a:r>
                          <a:endParaRPr lang="en-GB" sz="7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Dataset to compute climatology</a:t>
                          </a:r>
                          <a:endParaRPr lang="en-GB" sz="7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Dataset description</a:t>
                          </a:r>
                          <a:endParaRPr lang="en-GB" sz="7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Spatial coverage &amp; resolution at equator</a:t>
                          </a:r>
                          <a:endParaRPr lang="en-GB" sz="7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Temporal Coverage</a:t>
                          </a:r>
                        </a:p>
                        <a:p>
                          <a:pPr algn="ctr"/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(20-year return period)</a:t>
                          </a:r>
                          <a:endParaRPr lang="en-GB" sz="7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No. of independent realizations</a:t>
                          </a:r>
                          <a:endParaRPr lang="en-GB" sz="7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rgbClr val="0070C0"/>
                              </a:solidFill>
                            </a:rPr>
                            <a:t>Max return period that can be computed in the 20-year period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rgbClr val="7030A0"/>
                              </a:solidFill>
                            </a:rPr>
                            <a:t>Max percentile (%) that can be computed</a:t>
                          </a:r>
                        </a:p>
                        <a:p>
                          <a:pPr algn="ctr"/>
                          <a:endParaRPr lang="en-US" sz="700" b="1" dirty="0">
                            <a:solidFill>
                              <a:schemeClr val="bg1"/>
                            </a:solidFill>
                          </a:endParaRPr>
                        </a:p>
                        <a:p>
                          <a:pPr algn="ctr"/>
                          <a:r>
                            <a:rPr lang="en-US" sz="600" b="1" dirty="0">
                              <a:solidFill>
                                <a:srgbClr val="7030A0"/>
                              </a:solidFill>
                            </a:rPr>
                            <a:t>100 –</a:t>
                          </a:r>
                          <a:r>
                            <a:rPr lang="en-US" sz="800" b="1" dirty="0">
                              <a:solidFill>
                                <a:srgbClr val="7030A0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8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800" b="1" i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GB" sz="800" b="1" i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𝟎𝟎</m:t>
                                  </m:r>
                                </m:num>
                                <m:den>
                                  <m:r>
                                    <a:rPr lang="en-US" sz="800" b="1" i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𝐧𝐨</m:t>
                                  </m:r>
                                  <m:r>
                                    <a:rPr lang="en-US" sz="800" b="1" i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. </m:t>
                                  </m:r>
                                  <m:r>
                                    <a:rPr lang="en-US" sz="800" b="1" i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𝐭𝐨𝐭𝐚𝐥</m:t>
                                  </m:r>
                                  <m:r>
                                    <a:rPr lang="en-US" sz="800" b="1" i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800" b="1" i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𝐫𝐞𝐚𝐥</m:t>
                                  </m:r>
                                  <m:r>
                                    <a:rPr lang="en-US" sz="800" b="1" i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  </a:t>
                          </a:r>
                          <a:endParaRPr lang="en-GB" sz="7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37257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  <a:endParaRPr lang="en-GB" sz="7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45720" marR="45720" anchor="ctr"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Observational, for points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SYNOP + regional datasets at ECMWF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Rain gauges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Global (patchy), 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point scale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01/01/2000 to 31/12/2019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1 daily realization (real.)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1 real. X 365 days x 20 years = 7300 total real.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(7300 real. x 0.75*) / 365 days </a:t>
                          </a:r>
                          <a:r>
                            <a:rPr lang="en-GB" sz="700" b="0" dirty="0">
                              <a:solidFill>
                                <a:schemeClr val="tx1"/>
                              </a:solidFill>
                            </a:rPr>
                            <a:t>= </a:t>
                          </a:r>
                        </a:p>
                        <a:p>
                          <a:pPr algn="ctr"/>
                          <a:r>
                            <a:rPr lang="en-GB" sz="700" b="0" dirty="0">
                              <a:solidFill>
                                <a:srgbClr val="0070C0"/>
                              </a:solidFill>
                            </a:rPr>
                            <a:t>1 in a 15-year event</a:t>
                          </a:r>
                        </a:p>
                        <a:p>
                          <a:pPr algn="ctr"/>
                          <a:endParaRPr lang="en-GB" sz="700" b="0" dirty="0">
                            <a:solidFill>
                              <a:srgbClr val="7030A0"/>
                            </a:solidFill>
                          </a:endParaRPr>
                        </a:p>
                        <a:p>
                          <a:pPr algn="ctr"/>
                          <a:r>
                            <a:rPr lang="en-GB" sz="700" b="0" i="1" dirty="0">
                              <a:solidFill>
                                <a:schemeClr val="tx1"/>
                              </a:solidFill>
                            </a:rPr>
                            <a:t>* required at least 75% of valid obs.</a:t>
                          </a:r>
                          <a:endParaRPr lang="en-GB" sz="700" b="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rgbClr val="7030A0"/>
                              </a:solidFill>
                            </a:rPr>
                            <a:t>99.98174</a:t>
                          </a:r>
                          <a:endParaRPr lang="en-GB" sz="700" b="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23594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</a:p>
                      </a:txBody>
                      <a:tcPr marL="45720" marR="45720" anchor="ctr"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NWP-modelled, gridded</a:t>
                          </a:r>
                        </a:p>
                      </a:txBody>
                      <a:tcPr marL="45720" marR="45720" anchor="ctr"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ERA5-Ensemble Data Assimilation 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(ERA5-EDA)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Reanalysis, probabilistic 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(10 ensemble members)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Global,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62 km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7598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01/01/2000 to 31/12/2019</a:t>
                          </a:r>
                        </a:p>
                        <a:p>
                          <a:pPr algn="ctr"/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10 daily real.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10 real. X 365 days x 20 years = 73000* total real.</a:t>
                          </a:r>
                        </a:p>
                        <a:p>
                          <a:pPr algn="ctr"/>
                          <a:endParaRPr lang="en-US" sz="7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57598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700" b="0" i="1" dirty="0">
                              <a:solidFill>
                                <a:schemeClr val="tx1"/>
                              </a:solidFill>
                            </a:rPr>
                            <a:t>* we had only </a:t>
                          </a:r>
                          <a:r>
                            <a:rPr lang="en-GB" sz="700" b="0" i="0" u="none" dirty="0">
                              <a:solidFill>
                                <a:schemeClr val="tx1"/>
                              </a:solidFill>
                            </a:rPr>
                            <a:t>66940</a:t>
                          </a:r>
                          <a:r>
                            <a:rPr lang="en-GB" sz="700" b="0" i="1" dirty="0">
                              <a:solidFill>
                                <a:schemeClr val="tx1"/>
                              </a:solidFill>
                            </a:rPr>
                            <a:t> real. as some dates were not available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00" b="0" i="0" dirty="0">
                              <a:solidFill>
                                <a:schemeClr val="tx1"/>
                              </a:solidFill>
                            </a:rPr>
                            <a:t>66940</a:t>
                          </a:r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 real. / 365 days = </a:t>
                          </a:r>
                        </a:p>
                        <a:p>
                          <a:pPr algn="ctr"/>
                          <a:r>
                            <a:rPr lang="en-GB" sz="700" b="0" dirty="0">
                              <a:solidFill>
                                <a:srgbClr val="0070C0"/>
                              </a:solidFill>
                            </a:rPr>
                            <a:t>1 in a 183-year event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rgbClr val="7030A0"/>
                              </a:solidFill>
                            </a:rPr>
                            <a:t>99.99851</a:t>
                          </a:r>
                          <a:endParaRPr lang="en-GB" sz="700" b="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20271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en-GB" sz="7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45720" marR="45720" anchor="ctr"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7598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NWP-modelled, gridded</a:t>
                          </a:r>
                        </a:p>
                        <a:p>
                          <a:pPr algn="ctr"/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ERA5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Reanalysis, deterministic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Global,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31 km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7598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01/01/2000 to 31/12/2019</a:t>
                          </a:r>
                        </a:p>
                        <a:p>
                          <a:pPr algn="ctr"/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1 daily real.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1 real. X 365 days x 20 years = 7300 total real.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7300 real. / 365 days = </a:t>
                          </a:r>
                        </a:p>
                        <a:p>
                          <a:pPr algn="ctr"/>
                          <a:r>
                            <a:rPr lang="en-GB" sz="700" b="0" dirty="0">
                              <a:solidFill>
                                <a:srgbClr val="0070C0"/>
                              </a:solidFill>
                            </a:rPr>
                            <a:t>1 in a 20-year event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rgbClr val="7030A0"/>
                              </a:solidFill>
                            </a:rPr>
                            <a:t>99.98630</a:t>
                          </a:r>
                          <a:endParaRPr lang="en-GB" sz="700" b="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53272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  <a:endParaRPr lang="en-GB" sz="7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45720" marR="45720" anchor="ctr"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7598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NWP-modelled, gridded</a:t>
                          </a:r>
                        </a:p>
                        <a:p>
                          <a:pPr algn="ctr"/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46r1 ECMWF Reforecasts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(reforecast_46r1)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Reforecasts, probabilistic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(10 ensemble members, up to day 10). Used only control run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Global,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18 km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7598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Past 20 years for period between 01/07/2019 and 30/06/2020-Reforecasts run only on Mondays and Thursdays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10 daily real.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(all lead times for 2 control runs a week were used as daily independent real.)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10 real. X 2 runs X 52 weeks x 20 years = 20800 total real.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20800 real. / 365 days = </a:t>
                          </a:r>
                        </a:p>
                        <a:p>
                          <a:pPr algn="ctr"/>
                          <a:r>
                            <a:rPr lang="en-GB" sz="700" b="0" dirty="0">
                              <a:solidFill>
                                <a:srgbClr val="0070C0"/>
                              </a:solidFill>
                            </a:rPr>
                            <a:t>1 in a 56-year event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>
                              <a:solidFill>
                                <a:srgbClr val="7030A0"/>
                              </a:solidFill>
                            </a:rPr>
                            <a:t>99.99519</a:t>
                          </a:r>
                          <a:endParaRPr lang="en-GB" sz="700" b="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8845541"/>
                      </a:ext>
                    </a:extLst>
                  </a:tr>
                  <a:tr h="3020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  <a:endParaRPr lang="en-GB" sz="7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45720" marR="45720" anchor="ctr"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7598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NWP-modelled, gridded</a:t>
                          </a:r>
                        </a:p>
                        <a:p>
                          <a:pPr algn="ctr"/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ERA5-ecPoint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Reanalysis,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Probabilistic 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(99 ensemble members)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Global, 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at point scale, but provided on the ERA5’s grid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7598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01/01/2000 to 31/12/2019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99 daily real.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(all ensemble members were used as daily independent real.)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99 real. X 365 days x 20 years = 722700 total real.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722700 real. / 365 days = </a:t>
                          </a:r>
                        </a:p>
                        <a:p>
                          <a:pPr algn="ctr"/>
                          <a:r>
                            <a:rPr lang="en-GB" sz="700" b="0" dirty="0">
                              <a:solidFill>
                                <a:srgbClr val="0070C0"/>
                              </a:solidFill>
                            </a:rPr>
                            <a:t>1 in a 1980-year event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rgbClr val="7030A0"/>
                              </a:solidFill>
                            </a:rPr>
                            <a:t>99.99986</a:t>
                          </a:r>
                          <a:endParaRPr lang="en-GB" sz="700" b="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28756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3120C8A9-9201-0B9F-3024-D7D4A14E82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9878930"/>
                  </p:ext>
                </p:extLst>
              </p:nvPr>
            </p:nvGraphicFramePr>
            <p:xfrm>
              <a:off x="0" y="0"/>
              <a:ext cx="5948045" cy="6216269"/>
            </p:xfrm>
            <a:graphic>
              <a:graphicData uri="http://schemas.openxmlformats.org/drawingml/2006/table">
                <a:tbl>
                  <a:tblPr firstRow="1" bandRow="1">
                    <a:tableStyleId>{5202B0CA-FC54-4496-8BCA-5EF66A818D29}</a:tableStyleId>
                  </a:tblPr>
                  <a:tblGrid>
                    <a:gridCol w="289560">
                      <a:extLst>
                        <a:ext uri="{9D8B030D-6E8A-4147-A177-3AD203B41FA5}">
                          <a16:colId xmlns:a16="http://schemas.microsoft.com/office/drawing/2014/main" val="3922790956"/>
                        </a:ext>
                      </a:extLst>
                    </a:gridCol>
                    <a:gridCol w="678180">
                      <a:extLst>
                        <a:ext uri="{9D8B030D-6E8A-4147-A177-3AD203B41FA5}">
                          <a16:colId xmlns:a16="http://schemas.microsoft.com/office/drawing/2014/main" val="2278908256"/>
                        </a:ext>
                      </a:extLst>
                    </a:gridCol>
                    <a:gridCol w="754380">
                      <a:extLst>
                        <a:ext uri="{9D8B030D-6E8A-4147-A177-3AD203B41FA5}">
                          <a16:colId xmlns:a16="http://schemas.microsoft.com/office/drawing/2014/main" val="1439051023"/>
                        </a:ext>
                      </a:extLst>
                    </a:gridCol>
                    <a:gridCol w="632460">
                      <a:extLst>
                        <a:ext uri="{9D8B030D-6E8A-4147-A177-3AD203B41FA5}">
                          <a16:colId xmlns:a16="http://schemas.microsoft.com/office/drawing/2014/main" val="2239184006"/>
                        </a:ext>
                      </a:extLst>
                    </a:gridCol>
                    <a:gridCol w="521970">
                      <a:extLst>
                        <a:ext uri="{9D8B030D-6E8A-4147-A177-3AD203B41FA5}">
                          <a16:colId xmlns:a16="http://schemas.microsoft.com/office/drawing/2014/main" val="4174915147"/>
                        </a:ext>
                      </a:extLst>
                    </a:gridCol>
                    <a:gridCol w="561975">
                      <a:extLst>
                        <a:ext uri="{9D8B030D-6E8A-4147-A177-3AD203B41FA5}">
                          <a16:colId xmlns:a16="http://schemas.microsoft.com/office/drawing/2014/main" val="3945833988"/>
                        </a:ext>
                      </a:extLst>
                    </a:gridCol>
                    <a:gridCol w="784783">
                      <a:extLst>
                        <a:ext uri="{9D8B030D-6E8A-4147-A177-3AD203B41FA5}">
                          <a16:colId xmlns:a16="http://schemas.microsoft.com/office/drawing/2014/main" val="4283206873"/>
                        </a:ext>
                      </a:extLst>
                    </a:gridCol>
                    <a:gridCol w="874472">
                      <a:extLst>
                        <a:ext uri="{9D8B030D-6E8A-4147-A177-3AD203B41FA5}">
                          <a16:colId xmlns:a16="http://schemas.microsoft.com/office/drawing/2014/main" val="3368464733"/>
                        </a:ext>
                      </a:extLst>
                    </a:gridCol>
                    <a:gridCol w="850265">
                      <a:extLst>
                        <a:ext uri="{9D8B030D-6E8A-4147-A177-3AD203B41FA5}">
                          <a16:colId xmlns:a16="http://schemas.microsoft.com/office/drawing/2014/main" val="406658409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No. Col</a:t>
                          </a:r>
                          <a:endParaRPr lang="en-GB" sz="700" dirty="0"/>
                        </a:p>
                      </a:txBody>
                      <a:tcPr marL="45720" marR="45720" anchor="ctr"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1</a:t>
                          </a:r>
                          <a:endParaRPr lang="en-GB" sz="700" dirty="0"/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2</a:t>
                          </a:r>
                          <a:endParaRPr lang="en-GB" sz="700" dirty="0"/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3</a:t>
                          </a:r>
                          <a:endParaRPr lang="en-GB" sz="700" dirty="0"/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4</a:t>
                          </a:r>
                          <a:endParaRPr lang="en-GB" sz="700" dirty="0"/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5</a:t>
                          </a:r>
                          <a:endParaRPr lang="en-GB" sz="700" dirty="0"/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6</a:t>
                          </a:r>
                          <a:endParaRPr lang="en-GB" sz="700" dirty="0"/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7</a:t>
                          </a:r>
                          <a:endParaRPr lang="en-GB" sz="700" dirty="0"/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dirty="0"/>
                            <a:t>8</a:t>
                          </a:r>
                          <a:endParaRPr lang="en-GB" sz="700" dirty="0"/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3368246"/>
                      </a:ext>
                    </a:extLst>
                  </a:tr>
                  <a:tr h="6943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No. Row</a:t>
                          </a:r>
                          <a:endParaRPr lang="en-GB" sz="7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45720" marR="45720" anchor="ctr"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Type of climatology</a:t>
                          </a:r>
                          <a:endParaRPr lang="en-GB" sz="7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Dataset to compute climatology</a:t>
                          </a:r>
                          <a:endParaRPr lang="en-GB" sz="7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Dataset description</a:t>
                          </a:r>
                          <a:endParaRPr lang="en-GB" sz="7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Spatial coverage &amp; resolution at equator</a:t>
                          </a:r>
                          <a:endParaRPr lang="en-GB" sz="7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Temporal Coverage</a:t>
                          </a:r>
                        </a:p>
                        <a:p>
                          <a:pPr algn="ctr"/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(20-year return period)</a:t>
                          </a:r>
                          <a:endParaRPr lang="en-GB" sz="7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No. of independent realizations</a:t>
                          </a:r>
                          <a:endParaRPr lang="en-GB" sz="7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rgbClr val="0070C0"/>
                              </a:solidFill>
                            </a:rPr>
                            <a:t>Max return period that can be computed in the 20-year period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597143" t="-53509" b="-7429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3725704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  <a:endParaRPr lang="en-GB" sz="7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45720" marR="45720" anchor="ctr"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Observational, for points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SYNOP + regional datasets at ECMWF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Rain gauges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Global (patchy), 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point scale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01/01/2000 to 31/12/2019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1 daily realization (real.)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1 real. X 365 days x 20 years = 7300 total real.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(7300 real. x 0.75*) / 365 days </a:t>
                          </a:r>
                          <a:r>
                            <a:rPr lang="en-GB" sz="700" b="0" dirty="0">
                              <a:solidFill>
                                <a:schemeClr val="tx1"/>
                              </a:solidFill>
                            </a:rPr>
                            <a:t>= </a:t>
                          </a:r>
                        </a:p>
                        <a:p>
                          <a:pPr algn="ctr"/>
                          <a:r>
                            <a:rPr lang="en-GB" sz="700" b="0" dirty="0">
                              <a:solidFill>
                                <a:srgbClr val="0070C0"/>
                              </a:solidFill>
                            </a:rPr>
                            <a:t>1 in a 15-year event</a:t>
                          </a:r>
                        </a:p>
                        <a:p>
                          <a:pPr algn="ctr"/>
                          <a:endParaRPr lang="en-GB" sz="700" b="0" dirty="0">
                            <a:solidFill>
                              <a:srgbClr val="7030A0"/>
                            </a:solidFill>
                          </a:endParaRPr>
                        </a:p>
                        <a:p>
                          <a:pPr algn="ctr"/>
                          <a:r>
                            <a:rPr lang="en-GB" sz="700" b="0" i="1" dirty="0">
                              <a:solidFill>
                                <a:schemeClr val="tx1"/>
                              </a:solidFill>
                            </a:rPr>
                            <a:t>* required at least 75% of valid obs.</a:t>
                          </a:r>
                          <a:endParaRPr lang="en-GB" sz="700" b="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rgbClr val="7030A0"/>
                              </a:solidFill>
                            </a:rPr>
                            <a:t>99.98174</a:t>
                          </a:r>
                          <a:endParaRPr lang="en-GB" sz="700" b="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2359473"/>
                      </a:ext>
                    </a:extLst>
                  </a:tr>
                  <a:tr h="1158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</a:p>
                      </a:txBody>
                      <a:tcPr marL="45720" marR="45720" anchor="ctr"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NWP-modelled, gridded</a:t>
                          </a:r>
                        </a:p>
                      </a:txBody>
                      <a:tcPr marL="45720" marR="45720" anchor="ctr"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ERA5-Ensemble Data Assimilation 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(ERA5-EDA)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Reanalysis, probabilistic 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(10 ensemble members)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Global,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62 km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7598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01/01/2000 to 31/12/2019</a:t>
                          </a:r>
                        </a:p>
                        <a:p>
                          <a:pPr algn="ctr"/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10 daily real.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10 real. X 365 days x 20 years = 73000* total real.</a:t>
                          </a:r>
                        </a:p>
                        <a:p>
                          <a:pPr algn="ctr"/>
                          <a:endParaRPr lang="en-US" sz="7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57598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700" b="0" i="1" dirty="0">
                              <a:solidFill>
                                <a:schemeClr val="tx1"/>
                              </a:solidFill>
                            </a:rPr>
                            <a:t>* we had only </a:t>
                          </a:r>
                          <a:r>
                            <a:rPr lang="en-GB" sz="700" b="0" i="0" u="none" dirty="0">
                              <a:solidFill>
                                <a:schemeClr val="tx1"/>
                              </a:solidFill>
                            </a:rPr>
                            <a:t>66940</a:t>
                          </a:r>
                          <a:r>
                            <a:rPr lang="en-GB" sz="700" b="0" i="1" dirty="0">
                              <a:solidFill>
                                <a:schemeClr val="tx1"/>
                              </a:solidFill>
                            </a:rPr>
                            <a:t> real. as some dates were not available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700" b="0" i="0" dirty="0">
                              <a:solidFill>
                                <a:schemeClr val="tx1"/>
                              </a:solidFill>
                            </a:rPr>
                            <a:t>66940</a:t>
                          </a:r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 real. / 365 days = </a:t>
                          </a:r>
                        </a:p>
                        <a:p>
                          <a:pPr algn="ctr"/>
                          <a:r>
                            <a:rPr lang="en-GB" sz="700" b="0" dirty="0">
                              <a:solidFill>
                                <a:srgbClr val="0070C0"/>
                              </a:solidFill>
                            </a:rPr>
                            <a:t>1 in a 183-year event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rgbClr val="7030A0"/>
                              </a:solidFill>
                            </a:rPr>
                            <a:t>99.99851</a:t>
                          </a:r>
                          <a:endParaRPr lang="en-GB" sz="700" b="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2027170"/>
                      </a:ext>
                    </a:extLst>
                  </a:tr>
                  <a:tr h="624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en-GB" sz="7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45720" marR="45720" anchor="ctr"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7598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NWP-modelled, gridded</a:t>
                          </a:r>
                        </a:p>
                        <a:p>
                          <a:pPr algn="ctr"/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ERA5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Reanalysis, deterministic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Global,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31 km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7598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01/01/2000 to 31/12/2019</a:t>
                          </a:r>
                        </a:p>
                        <a:p>
                          <a:pPr algn="ctr"/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1 daily real.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1 real. X 365 days x 20 years = 7300 total real.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7300 real. / 365 days = </a:t>
                          </a:r>
                        </a:p>
                        <a:p>
                          <a:pPr algn="ctr"/>
                          <a:r>
                            <a:rPr lang="en-GB" sz="700" b="0" dirty="0">
                              <a:solidFill>
                                <a:srgbClr val="0070C0"/>
                              </a:solidFill>
                            </a:rPr>
                            <a:t>1 in a 20-year event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rgbClr val="7030A0"/>
                              </a:solidFill>
                            </a:rPr>
                            <a:t>99.98630</a:t>
                          </a:r>
                          <a:endParaRPr lang="en-GB" sz="700" b="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5327256"/>
                      </a:ext>
                    </a:extLst>
                  </a:tr>
                  <a:tr h="1478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  <a:endParaRPr lang="en-GB" sz="7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45720" marR="45720" anchor="ctr"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7598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NWP-modelled, gridded</a:t>
                          </a:r>
                        </a:p>
                        <a:p>
                          <a:pPr algn="ctr"/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46r1 ECMWF Reforecasts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(reforecast_46r1)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Reforecasts, probabilistic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(10 ensemble members, up to day 10). Used only control run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Global,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18 km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7598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Past 20 years for period between 01/07/2019 and 30/06/2020-Reforecasts run only on Mondays and Thursdays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10 daily real.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(all lead times for 2 control runs a week were used as daily independent real.)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10 real. X 2 runs X 52 weeks x 20 years = 20800 total real.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20800 real. / 365 days = </a:t>
                          </a:r>
                        </a:p>
                        <a:p>
                          <a:pPr algn="ctr"/>
                          <a:r>
                            <a:rPr lang="en-GB" sz="700" b="0" dirty="0">
                              <a:solidFill>
                                <a:srgbClr val="0070C0"/>
                              </a:solidFill>
                            </a:rPr>
                            <a:t>1 in a 56-year event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>
                              <a:solidFill>
                                <a:srgbClr val="7030A0"/>
                              </a:solidFill>
                            </a:rPr>
                            <a:t>99.99519</a:t>
                          </a:r>
                          <a:endParaRPr lang="en-GB" sz="700" b="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dk1">
                            <a:tint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8845541"/>
                      </a:ext>
                    </a:extLst>
                  </a:tr>
                  <a:tr h="1158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1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  <a:endParaRPr lang="en-GB" sz="7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45720" marR="45720" anchor="ctr">
                        <a:lnT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7598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NWP-modelled, gridded</a:t>
                          </a:r>
                        </a:p>
                        <a:p>
                          <a:pPr algn="ctr"/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ERA5-ecPoint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Reanalysis,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Probabilistic 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(99 ensemble members)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Global, 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at point scale, but provided on the ERA5’s grid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75981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01/01/2000 to 31/12/2019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99 daily real.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(all ensemble members were used as daily independent real.)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99 real. X 365 days x 20 years = 722700 total real.</a:t>
                          </a:r>
                          <a:endParaRPr lang="en-GB" sz="7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chemeClr val="tx1"/>
                              </a:solidFill>
                            </a:rPr>
                            <a:t>722700 real. / 365 days = </a:t>
                          </a:r>
                        </a:p>
                        <a:p>
                          <a:pPr algn="ctr"/>
                          <a:r>
                            <a:rPr lang="en-GB" sz="700" b="0" dirty="0">
                              <a:solidFill>
                                <a:srgbClr val="0070C0"/>
                              </a:solidFill>
                            </a:rPr>
                            <a:t>1 in a 1980-year event</a:t>
                          </a: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700" b="0" dirty="0">
                              <a:solidFill>
                                <a:srgbClr val="7030A0"/>
                              </a:solidFill>
                            </a:rPr>
                            <a:t>99.99986</a:t>
                          </a:r>
                          <a:endParaRPr lang="en-GB" sz="700" b="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 marL="45720" marR="45720" anchor="ctr">
                        <a:lnL w="3175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dk1">
                            <a:tint val="2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28756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54079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421</Words>
  <Application>Microsoft Office PowerPoint</Application>
  <PresentationFormat>Custom</PresentationFormat>
  <Paragraphs>98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Pillosu</dc:creator>
  <cp:lastModifiedBy>Fatima Maria Pillosu</cp:lastModifiedBy>
  <cp:revision>1</cp:revision>
  <dcterms:created xsi:type="dcterms:W3CDTF">2025-03-20T11:05:49Z</dcterms:created>
  <dcterms:modified xsi:type="dcterms:W3CDTF">2026-02-03T15:11:21Z</dcterms:modified>
</cp:coreProperties>
</file>